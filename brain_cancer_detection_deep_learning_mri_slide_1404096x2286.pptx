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4.jpg" ContentType="image/jpeg"/>
  <Override PartName="/ppt/media/image15.jpg" ContentType="image/jpeg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9" r:id="rId5"/>
    <p:sldId id="258" r:id="rId6"/>
    <p:sldId id="260" r:id="rId7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7" d="100"/>
          <a:sy n="87" d="100"/>
        </p:scale>
        <p:origin x="-907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395A9-E717-4DF1-BAD0-235AECD7B94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3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89338"/>
            <a:ext cx="8553450" cy="3400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67ED3-5286-4714-9BE9-18D6F9C25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78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Title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67ED3-5286-4714-9BE9-18D6F9C25F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28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r>
              <a:rPr lang="en-US" baseline="0" dirty="0" smtClean="0"/>
              <a:t> of the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67ED3-5286-4714-9BE9-18D6F9C25F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17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67ED3-5286-4714-9BE9-18D6F9C25F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14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67ED3-5286-4714-9BE9-18D6F9C25F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7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Workflow</a:t>
            </a:r>
            <a:r>
              <a:rPr lang="en-US" baseline="0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67ED3-5286-4714-9BE9-18D6F9C25F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58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Future</a:t>
            </a:r>
            <a:r>
              <a:rPr lang="en-US" baseline="0" dirty="0" smtClean="0"/>
              <a:t> scopes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D67ED3-5286-4714-9BE9-18D6F9C25F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72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378" y="900541"/>
            <a:ext cx="9315400" cy="575541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20625" y="1764104"/>
            <a:ext cx="4874260" cy="347980"/>
          </a:xfrm>
          <a:custGeom>
            <a:avLst/>
            <a:gdLst/>
            <a:ahLst/>
            <a:cxnLst/>
            <a:rect l="l" t="t" r="r" b="b"/>
            <a:pathLst>
              <a:path w="4874260" h="347980">
                <a:moveTo>
                  <a:pt x="4917440" y="350520"/>
                </a:moveTo>
                <a:lnTo>
                  <a:pt x="0" y="350520"/>
                </a:lnTo>
                <a:lnTo>
                  <a:pt x="0" y="0"/>
                </a:lnTo>
                <a:lnTo>
                  <a:pt x="4917440" y="0"/>
                </a:lnTo>
                <a:lnTo>
                  <a:pt x="4917440" y="350520"/>
                </a:lnTo>
                <a:close/>
              </a:path>
            </a:pathLst>
          </a:custGeom>
          <a:solidFill>
            <a:srgbClr val="050C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6568" y="1571391"/>
            <a:ext cx="4937760" cy="652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964" y="4621669"/>
            <a:ext cx="120848" cy="152067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8657" y="4621669"/>
            <a:ext cx="110777" cy="152067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" y="2960001"/>
            <a:ext cx="10312400" cy="104735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35828" y="4643824"/>
            <a:ext cx="0" cy="1477645"/>
          </a:xfrm>
          <a:custGeom>
            <a:avLst/>
            <a:gdLst/>
            <a:ahLst/>
            <a:cxnLst/>
            <a:rect l="l" t="t" r="r" b="b"/>
            <a:pathLst>
              <a:path h="1477645">
                <a:moveTo>
                  <a:pt x="0" y="1477373"/>
                </a:moveTo>
                <a:lnTo>
                  <a:pt x="0" y="0"/>
                </a:lnTo>
              </a:path>
            </a:pathLst>
          </a:custGeom>
          <a:ln w="9063">
            <a:solidFill>
              <a:srgbClr val="1F4B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53542" y="4643824"/>
            <a:ext cx="0" cy="1477645"/>
          </a:xfrm>
          <a:custGeom>
            <a:avLst/>
            <a:gdLst/>
            <a:ahLst/>
            <a:cxnLst/>
            <a:rect l="l" t="t" r="r" b="b"/>
            <a:pathLst>
              <a:path h="1477645">
                <a:moveTo>
                  <a:pt x="0" y="1477373"/>
                </a:moveTo>
                <a:lnTo>
                  <a:pt x="0" y="0"/>
                </a:lnTo>
              </a:path>
            </a:pathLst>
          </a:custGeom>
          <a:ln w="9063">
            <a:solidFill>
              <a:srgbClr val="1F4B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31296" y="4648356"/>
            <a:ext cx="214629" cy="0"/>
          </a:xfrm>
          <a:custGeom>
            <a:avLst/>
            <a:gdLst/>
            <a:ahLst/>
            <a:cxnLst/>
            <a:rect l="l" t="t" r="r" b="b"/>
            <a:pathLst>
              <a:path w="214630">
                <a:moveTo>
                  <a:pt x="0" y="0"/>
                </a:moveTo>
                <a:lnTo>
                  <a:pt x="214506" y="0"/>
                </a:lnTo>
              </a:path>
            </a:pathLst>
          </a:custGeom>
          <a:ln w="9063">
            <a:solidFill>
              <a:srgbClr val="1F4B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755151" y="4648356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>
                <a:moveTo>
                  <a:pt x="0" y="0"/>
                </a:moveTo>
                <a:lnTo>
                  <a:pt x="202924" y="0"/>
                </a:lnTo>
              </a:path>
            </a:pathLst>
          </a:custGeom>
          <a:ln w="9063">
            <a:solidFill>
              <a:srgbClr val="1F4B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731296" y="6116667"/>
            <a:ext cx="214629" cy="0"/>
          </a:xfrm>
          <a:custGeom>
            <a:avLst/>
            <a:gdLst/>
            <a:ahLst/>
            <a:cxnLst/>
            <a:rect l="l" t="t" r="r" b="b"/>
            <a:pathLst>
              <a:path w="214630">
                <a:moveTo>
                  <a:pt x="0" y="0"/>
                </a:moveTo>
                <a:lnTo>
                  <a:pt x="214506" y="0"/>
                </a:lnTo>
              </a:path>
            </a:pathLst>
          </a:custGeom>
          <a:ln w="9063">
            <a:solidFill>
              <a:srgbClr val="1F4B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9755151" y="6116667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>
                <a:moveTo>
                  <a:pt x="0" y="0"/>
                </a:moveTo>
                <a:lnTo>
                  <a:pt x="202924" y="0"/>
                </a:lnTo>
              </a:path>
            </a:pathLst>
          </a:custGeom>
          <a:ln w="9063">
            <a:solidFill>
              <a:srgbClr val="1F4B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90500" y="1449395"/>
            <a:ext cx="10310495" cy="410845"/>
          </a:xfrm>
          <a:custGeom>
            <a:avLst/>
            <a:gdLst/>
            <a:ahLst/>
            <a:cxnLst/>
            <a:rect l="l" t="t" r="r" b="b"/>
            <a:pathLst>
              <a:path w="10310495" h="410844">
                <a:moveTo>
                  <a:pt x="10401300" y="414020"/>
                </a:moveTo>
                <a:lnTo>
                  <a:pt x="0" y="414020"/>
                </a:lnTo>
                <a:lnTo>
                  <a:pt x="0" y="0"/>
                </a:lnTo>
                <a:lnTo>
                  <a:pt x="10401300" y="0"/>
                </a:lnTo>
                <a:lnTo>
                  <a:pt x="10401300" y="414020"/>
                </a:lnTo>
                <a:close/>
              </a:path>
            </a:pathLst>
          </a:custGeom>
          <a:solidFill>
            <a:srgbClr val="050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4397" y="2441360"/>
            <a:ext cx="3640559" cy="374630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900541"/>
            <a:ext cx="10312400" cy="10020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1173" y="1148421"/>
            <a:ext cx="9431052" cy="851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173" y="1148421"/>
            <a:ext cx="9431052" cy="546303"/>
          </a:xfrm>
        </p:spPr>
        <p:txBody>
          <a:bodyPr/>
          <a:lstStyle/>
          <a:p>
            <a:r>
              <a:rPr lang="en-US" dirty="0" smtClean="0"/>
              <a:t>tram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323038"/>
            <a:ext cx="10071100" cy="2018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73350" y="2531755"/>
            <a:ext cx="5346700" cy="20774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Presentation on </a:t>
            </a:r>
            <a:endParaRPr lang="en-US" dirty="0" smtClean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Brain Tumor Detection</a:t>
            </a:r>
            <a:r>
              <a:rPr lang="en-US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lang="en-US" dirty="0" smtClean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Carried Out At</a:t>
            </a:r>
            <a:endParaRPr lang="en-US" dirty="0" smtClean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lang="en-US" b="1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Poornim</a:t>
            </a:r>
            <a:r>
              <a:rPr lang="en-US" b="1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ollege of Engineering</a:t>
            </a:r>
            <a:r>
              <a:rPr lang="en-US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endParaRPr lang="en-US" dirty="0" smtClean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(Session 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2024-2026</a:t>
            </a:r>
            <a:r>
              <a:rPr lang="en-US" sz="1400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3700" y="4997450"/>
            <a:ext cx="78549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Description: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Rahul </a:t>
            </a:r>
            <a:r>
              <a:rPr lang="en-US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Prajapat</a:t>
            </a:r>
            <a:endParaRPr lang="en-US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8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Ujala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Soni</a:t>
            </a:r>
            <a:endParaRPr lang="en-US" sz="1800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Bhumi</a:t>
            </a: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Khandelwal</a:t>
            </a:r>
            <a:endParaRPr lang="en-US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Jai </a:t>
            </a:r>
            <a:r>
              <a:rPr lang="en-US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Singhal</a:t>
            </a: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800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15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6568" y="1571391"/>
            <a:ext cx="4937760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100" dirty="0">
                <a:solidFill>
                  <a:srgbClr val="FFFFFF"/>
                </a:solidFill>
                <a:latin typeface="Calibri"/>
                <a:cs typeface="Calibri"/>
              </a:rPr>
              <a:t>Brain</a:t>
            </a:r>
            <a:r>
              <a:rPr sz="4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100" spc="50" dirty="0">
                <a:solidFill>
                  <a:srgbClr val="FFFFFF"/>
                </a:solidFill>
                <a:latin typeface="Calibri"/>
                <a:cs typeface="Calibri"/>
              </a:rPr>
              <a:t>Cancer </a:t>
            </a:r>
            <a:r>
              <a:rPr sz="4100" spc="-10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endParaRPr sz="4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8037" y="2270157"/>
            <a:ext cx="5045710" cy="1450340"/>
            <a:chOff x="908037" y="2270157"/>
            <a:chExt cx="5045710" cy="1450340"/>
          </a:xfrm>
        </p:grpSpPr>
        <p:sp>
          <p:nvSpPr>
            <p:cNvPr id="4" name="object 4"/>
            <p:cNvSpPr/>
            <p:nvPr/>
          </p:nvSpPr>
          <p:spPr>
            <a:xfrm>
              <a:off x="908037" y="2270157"/>
              <a:ext cx="5045710" cy="440690"/>
            </a:xfrm>
            <a:custGeom>
              <a:avLst/>
              <a:gdLst/>
              <a:ahLst/>
              <a:cxnLst/>
              <a:rect l="l" t="t" r="r" b="b"/>
              <a:pathLst>
                <a:path w="5045710" h="440689">
                  <a:moveTo>
                    <a:pt x="5090160" y="444500"/>
                  </a:moveTo>
                  <a:lnTo>
                    <a:pt x="0" y="444500"/>
                  </a:lnTo>
                  <a:lnTo>
                    <a:pt x="0" y="0"/>
                  </a:lnTo>
                  <a:lnTo>
                    <a:pt x="5090160" y="0"/>
                  </a:lnTo>
                  <a:lnTo>
                    <a:pt x="5090160" y="444500"/>
                  </a:lnTo>
                  <a:close/>
                </a:path>
              </a:pathLst>
            </a:custGeom>
            <a:solidFill>
              <a:srgbClr val="071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20625" y="3304923"/>
              <a:ext cx="1488440" cy="415925"/>
            </a:xfrm>
            <a:custGeom>
              <a:avLst/>
              <a:gdLst/>
              <a:ahLst/>
              <a:cxnLst/>
              <a:rect l="l" t="t" r="r" b="b"/>
              <a:pathLst>
                <a:path w="1488439" h="415925">
                  <a:moveTo>
                    <a:pt x="1501140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1501140" y="0"/>
                  </a:lnTo>
                  <a:lnTo>
                    <a:pt x="1501140" y="419100"/>
                  </a:lnTo>
                  <a:close/>
                </a:path>
              </a:pathLst>
            </a:custGeom>
            <a:solidFill>
              <a:srgbClr val="0513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65242" y="2090032"/>
            <a:ext cx="5103495" cy="164718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15"/>
              </a:spcBef>
            </a:pPr>
            <a:r>
              <a:rPr sz="4000" spc="-16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4000" spc="-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65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4000" spc="-3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85"/>
              </a:spcBef>
            </a:pPr>
            <a:r>
              <a:rPr sz="3800" spc="-10" dirty="0">
                <a:solidFill>
                  <a:srgbClr val="FFFFFF"/>
                </a:solidFill>
                <a:latin typeface="Arial MT"/>
                <a:cs typeface="Arial MT"/>
              </a:rPr>
              <a:t>Images</a:t>
            </a:r>
            <a:endParaRPr sz="3800">
              <a:latin typeface="Arial MT"/>
              <a:cs typeface="Arial M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b="17855"/>
          <a:stretch/>
        </p:blipFill>
        <p:spPr bwMode="auto">
          <a:xfrm>
            <a:off x="9856177" y="1"/>
            <a:ext cx="808891" cy="85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10" y="59881"/>
            <a:ext cx="3657600" cy="733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3610" y="900541"/>
            <a:ext cx="9497060" cy="5755640"/>
            <a:chOff x="633610" y="900541"/>
            <a:chExt cx="9497060" cy="575564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610" y="900541"/>
              <a:ext cx="9496672" cy="575541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73893" y="1300852"/>
              <a:ext cx="5423535" cy="362585"/>
            </a:xfrm>
            <a:custGeom>
              <a:avLst/>
              <a:gdLst/>
              <a:ahLst/>
              <a:cxnLst/>
              <a:rect l="l" t="t" r="r" b="b"/>
              <a:pathLst>
                <a:path w="5423535" h="362585">
                  <a:moveTo>
                    <a:pt x="5471160" y="365760"/>
                  </a:moveTo>
                  <a:lnTo>
                    <a:pt x="0" y="365760"/>
                  </a:lnTo>
                  <a:lnTo>
                    <a:pt x="0" y="0"/>
                  </a:lnTo>
                  <a:lnTo>
                    <a:pt x="5471160" y="0"/>
                  </a:lnTo>
                  <a:lnTo>
                    <a:pt x="5471160" y="365760"/>
                  </a:lnTo>
                  <a:close/>
                </a:path>
              </a:pathLst>
            </a:custGeom>
            <a:solidFill>
              <a:srgbClr val="050E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00" spc="-114" dirty="0"/>
              <a:t>Project </a:t>
            </a:r>
            <a:r>
              <a:rPr sz="3300" spc="-195" dirty="0"/>
              <a:t>Overview</a:t>
            </a:r>
            <a:r>
              <a:rPr sz="3300" spc="5" dirty="0"/>
              <a:t> </a:t>
            </a:r>
            <a:r>
              <a:rPr sz="3300" spc="-250" dirty="0"/>
              <a:t>&amp;</a:t>
            </a:r>
            <a:r>
              <a:rPr sz="3300" spc="-125" dirty="0"/>
              <a:t> </a:t>
            </a:r>
            <a:r>
              <a:rPr sz="3300" spc="-80" dirty="0"/>
              <a:t>Architecture</a:t>
            </a:r>
            <a:endParaRPr sz="330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b="17855"/>
          <a:stretch/>
        </p:blipFill>
        <p:spPr bwMode="auto">
          <a:xfrm>
            <a:off x="9856177" y="1"/>
            <a:ext cx="808891" cy="85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10" y="59881"/>
            <a:ext cx="3657600" cy="7330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0" y="900541"/>
            <a:ext cx="10312400" cy="5504180"/>
            <a:chOff x="190500" y="900541"/>
            <a:chExt cx="10312400" cy="550418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900541"/>
              <a:ext cx="10312400" cy="55036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12470" y="1575280"/>
              <a:ext cx="2966085" cy="395605"/>
            </a:xfrm>
            <a:custGeom>
              <a:avLst/>
              <a:gdLst/>
              <a:ahLst/>
              <a:cxnLst/>
              <a:rect l="l" t="t" r="r" b="b"/>
              <a:pathLst>
                <a:path w="2966084" h="395605">
                  <a:moveTo>
                    <a:pt x="2992120" y="398780"/>
                  </a:moveTo>
                  <a:lnTo>
                    <a:pt x="0" y="398780"/>
                  </a:lnTo>
                  <a:lnTo>
                    <a:pt x="0" y="0"/>
                  </a:lnTo>
                  <a:lnTo>
                    <a:pt x="2992120" y="0"/>
                  </a:lnTo>
                  <a:lnTo>
                    <a:pt x="2992120" y="398780"/>
                  </a:lnTo>
                  <a:close/>
                </a:path>
              </a:pathLst>
            </a:custGeom>
            <a:solidFill>
              <a:srgbClr val="050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78773" y="1407742"/>
            <a:ext cx="2988945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700" spc="-75" dirty="0"/>
              <a:t>Clinical</a:t>
            </a:r>
            <a:r>
              <a:rPr sz="3700" spc="-135" dirty="0"/>
              <a:t> </a:t>
            </a:r>
            <a:r>
              <a:rPr sz="3700" spc="-10" dirty="0"/>
              <a:t>Impact</a:t>
            </a:r>
            <a:endParaRPr sz="3700"/>
          </a:p>
        </p:txBody>
      </p:sp>
      <p:sp>
        <p:nvSpPr>
          <p:cNvPr id="6" name="object 6"/>
          <p:cNvSpPr/>
          <p:nvPr/>
        </p:nvSpPr>
        <p:spPr>
          <a:xfrm>
            <a:off x="5809952" y="2056155"/>
            <a:ext cx="2882900" cy="395605"/>
          </a:xfrm>
          <a:custGeom>
            <a:avLst/>
            <a:gdLst/>
            <a:ahLst/>
            <a:cxnLst/>
            <a:rect l="l" t="t" r="r" b="b"/>
            <a:pathLst>
              <a:path w="2882900" h="395605">
                <a:moveTo>
                  <a:pt x="2908300" y="398780"/>
                </a:moveTo>
                <a:lnTo>
                  <a:pt x="0" y="398780"/>
                </a:lnTo>
                <a:lnTo>
                  <a:pt x="0" y="0"/>
                </a:lnTo>
                <a:lnTo>
                  <a:pt x="2908300" y="0"/>
                </a:lnTo>
                <a:lnTo>
                  <a:pt x="2908300" y="398780"/>
                </a:lnTo>
                <a:close/>
              </a:path>
            </a:pathLst>
          </a:custGeom>
          <a:solidFill>
            <a:srgbClr val="050F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80297" y="1904983"/>
            <a:ext cx="2884170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-125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355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550" spc="-10" dirty="0">
                <a:solidFill>
                  <a:srgbClr val="FFFFFF"/>
                </a:solidFill>
                <a:latin typeface="Arial MT"/>
                <a:cs typeface="Arial MT"/>
              </a:rPr>
              <a:t>Applications</a:t>
            </a:r>
            <a:endParaRPr sz="35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88931" y="6504892"/>
            <a:ext cx="111125" cy="121285"/>
            <a:chOff x="7088931" y="6504892"/>
            <a:chExt cx="111125" cy="121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8931" y="6504892"/>
              <a:ext cx="110777" cy="1208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8931" y="6504892"/>
              <a:ext cx="110777" cy="120848"/>
            </a:xfrm>
            <a:prstGeom prst="rect">
              <a:avLst/>
            </a:prstGeom>
          </p:spPr>
        </p:pic>
      </p:grp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b="17855"/>
          <a:stretch/>
        </p:blipFill>
        <p:spPr bwMode="auto">
          <a:xfrm>
            <a:off x="9856177" y="1"/>
            <a:ext cx="808891" cy="85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10" y="59881"/>
            <a:ext cx="3657600" cy="7330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1889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14"/>
              </a:spcBef>
            </a:pPr>
            <a:r>
              <a:rPr spc="-40" dirty="0"/>
              <a:t>System</a:t>
            </a:r>
            <a:r>
              <a:rPr spc="-210" dirty="0"/>
              <a:t> </a:t>
            </a:r>
            <a:r>
              <a:rPr spc="-35" dirty="0"/>
              <a:t>Flow</a:t>
            </a:r>
            <a:r>
              <a:rPr spc="-150" dirty="0"/>
              <a:t> </a:t>
            </a:r>
            <a:r>
              <a:rPr spc="-245" dirty="0"/>
              <a:t>&amp;</a:t>
            </a:r>
            <a:r>
              <a:rPr spc="-260" dirty="0"/>
              <a:t> </a:t>
            </a:r>
            <a:r>
              <a:rPr spc="-110" dirty="0"/>
              <a:t>Data</a:t>
            </a:r>
            <a:r>
              <a:rPr spc="-114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500" y="2738446"/>
            <a:ext cx="10310495" cy="118745"/>
          </a:xfrm>
          <a:prstGeom prst="rect">
            <a:avLst/>
          </a:prstGeom>
          <a:solidFill>
            <a:srgbClr val="080E28"/>
          </a:solidFill>
        </p:spPr>
        <p:txBody>
          <a:bodyPr vert="horz" wrap="square" lIns="0" tIns="0" rIns="0" bIns="0" rtlCol="0">
            <a:spAutoFit/>
          </a:bodyPr>
          <a:lstStyle/>
          <a:p>
            <a:pPr marL="586105">
              <a:lnSpc>
                <a:spcPts val="930"/>
              </a:lnSpc>
              <a:tabLst>
                <a:tab pos="3068320" algn="l"/>
                <a:tab pos="5878195" algn="l"/>
                <a:tab pos="8371205" algn="l"/>
              </a:tabLst>
            </a:pPr>
            <a:r>
              <a:rPr sz="1050" spc="-45" dirty="0">
                <a:solidFill>
                  <a:srgbClr val="1FD4E9"/>
                </a:solidFill>
                <a:latin typeface="Arial MT"/>
                <a:cs typeface="Arial MT"/>
              </a:rPr>
              <a:t>RAW</a:t>
            </a:r>
            <a:r>
              <a:rPr sz="1050" spc="-5" dirty="0">
                <a:solidFill>
                  <a:srgbClr val="1FD4E9"/>
                </a:solidFill>
                <a:latin typeface="Arial MT"/>
                <a:cs typeface="Arial MT"/>
              </a:rPr>
              <a:t> </a:t>
            </a:r>
            <a:r>
              <a:rPr sz="1050" spc="-35" dirty="0">
                <a:solidFill>
                  <a:srgbClr val="3DE9F7"/>
                </a:solidFill>
                <a:latin typeface="Arial MT"/>
                <a:cs typeface="Arial MT"/>
              </a:rPr>
              <a:t>MRI</a:t>
            </a:r>
            <a:r>
              <a:rPr sz="1050" spc="-40" dirty="0">
                <a:solidFill>
                  <a:srgbClr val="3DE9F7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31DBEF"/>
                </a:solidFill>
                <a:latin typeface="Arial MT"/>
                <a:cs typeface="Arial MT"/>
              </a:rPr>
              <a:t>INPUT</a:t>
            </a:r>
            <a:r>
              <a:rPr sz="1050" dirty="0">
                <a:solidFill>
                  <a:srgbClr val="31DBEF"/>
                </a:solidFill>
                <a:latin typeface="Arial MT"/>
                <a:cs typeface="Arial MT"/>
              </a:rPr>
              <a:t>	</a:t>
            </a:r>
            <a:r>
              <a:rPr sz="1050" spc="-10" dirty="0">
                <a:solidFill>
                  <a:srgbClr val="34E6EF"/>
                </a:solidFill>
                <a:latin typeface="Arial MT"/>
                <a:cs typeface="Arial MT"/>
              </a:rPr>
              <a:t>PREPROCESSING</a:t>
            </a:r>
            <a:r>
              <a:rPr sz="1050" dirty="0">
                <a:solidFill>
                  <a:srgbClr val="34E6EF"/>
                </a:solidFill>
                <a:latin typeface="Arial MT"/>
                <a:cs typeface="Arial MT"/>
              </a:rPr>
              <a:t>	</a:t>
            </a:r>
            <a:r>
              <a:rPr sz="1050" spc="-55" dirty="0">
                <a:solidFill>
                  <a:srgbClr val="3DDFF4"/>
                </a:solidFill>
                <a:latin typeface="Arial MT"/>
                <a:cs typeface="Arial MT"/>
              </a:rPr>
              <a:t>RESNET18</a:t>
            </a:r>
            <a:r>
              <a:rPr sz="1050" spc="-5" dirty="0">
                <a:solidFill>
                  <a:srgbClr val="3DDFF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2FE4F9"/>
                </a:solidFill>
                <a:latin typeface="Arial MT"/>
                <a:cs typeface="Arial MT"/>
              </a:rPr>
              <a:t>ENGINE</a:t>
            </a:r>
            <a:r>
              <a:rPr sz="1050" dirty="0">
                <a:solidFill>
                  <a:srgbClr val="2FE4F9"/>
                </a:solidFill>
                <a:latin typeface="Arial MT"/>
                <a:cs typeface="Arial MT"/>
              </a:rPr>
              <a:t>	</a:t>
            </a:r>
            <a:r>
              <a:rPr sz="1050" spc="-55" dirty="0">
                <a:solidFill>
                  <a:srgbClr val="46D6F9"/>
                </a:solidFill>
                <a:latin typeface="Arial MT"/>
                <a:cs typeface="Arial MT"/>
              </a:rPr>
              <a:t>GRADIO</a:t>
            </a:r>
            <a:r>
              <a:rPr sz="1050" spc="25" dirty="0">
                <a:solidFill>
                  <a:srgbClr val="46D6F9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2AE6F4"/>
                </a:solidFill>
                <a:latin typeface="Arial MT"/>
                <a:cs typeface="Arial MT"/>
              </a:rPr>
              <a:t>INTERFACE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86758" y="3813495"/>
            <a:ext cx="692785" cy="171450"/>
            <a:chOff x="4286758" y="3813495"/>
            <a:chExt cx="692785" cy="171450"/>
          </a:xfrm>
        </p:grpSpPr>
        <p:sp>
          <p:nvSpPr>
            <p:cNvPr id="5" name="object 5"/>
            <p:cNvSpPr/>
            <p:nvPr/>
          </p:nvSpPr>
          <p:spPr>
            <a:xfrm>
              <a:off x="4525937" y="3813495"/>
              <a:ext cx="221615" cy="66040"/>
            </a:xfrm>
            <a:custGeom>
              <a:avLst/>
              <a:gdLst/>
              <a:ahLst/>
              <a:cxnLst/>
              <a:rect l="l" t="t" r="r" b="b"/>
              <a:pathLst>
                <a:path w="221614" h="66039">
                  <a:moveTo>
                    <a:pt x="223520" y="66040"/>
                  </a:moveTo>
                  <a:lnTo>
                    <a:pt x="0" y="66040"/>
                  </a:lnTo>
                  <a:lnTo>
                    <a:pt x="0" y="0"/>
                  </a:lnTo>
                  <a:lnTo>
                    <a:pt x="223520" y="0"/>
                  </a:lnTo>
                  <a:lnTo>
                    <a:pt x="223520" y="66040"/>
                  </a:lnTo>
                  <a:close/>
                </a:path>
              </a:pathLst>
            </a:custGeom>
            <a:solidFill>
              <a:srgbClr val="2D2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86758" y="3916719"/>
              <a:ext cx="692785" cy="68580"/>
            </a:xfrm>
            <a:custGeom>
              <a:avLst/>
              <a:gdLst/>
              <a:ahLst/>
              <a:cxnLst/>
              <a:rect l="l" t="t" r="r" b="b"/>
              <a:pathLst>
                <a:path w="692785" h="68579">
                  <a:moveTo>
                    <a:pt x="698500" y="68580"/>
                  </a:moveTo>
                  <a:lnTo>
                    <a:pt x="0" y="68580"/>
                  </a:lnTo>
                  <a:lnTo>
                    <a:pt x="0" y="0"/>
                  </a:lnTo>
                  <a:lnTo>
                    <a:pt x="698500" y="0"/>
                  </a:lnTo>
                  <a:lnTo>
                    <a:pt x="698500" y="68580"/>
                  </a:lnTo>
                  <a:close/>
                </a:path>
              </a:pathLst>
            </a:custGeom>
            <a:solidFill>
              <a:srgbClr val="0C0F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74954" y="3775618"/>
            <a:ext cx="714375" cy="238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" algn="ctr">
              <a:lnSpc>
                <a:spcPts val="810"/>
              </a:lnSpc>
              <a:spcBef>
                <a:spcPts val="90"/>
              </a:spcBef>
            </a:pPr>
            <a:r>
              <a:rPr sz="7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ts val="869"/>
              </a:lnSpc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AUGMENTATION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54391" y="3043085"/>
            <a:ext cx="262255" cy="71120"/>
          </a:xfrm>
          <a:prstGeom prst="rect">
            <a:avLst/>
          </a:prstGeom>
          <a:solidFill>
            <a:srgbClr val="16263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55"/>
              </a:lnSpc>
            </a:pPr>
            <a:r>
              <a:rPr sz="750" spc="-20" dirty="0">
                <a:solidFill>
                  <a:srgbClr val="FFFFFF"/>
                </a:solidFill>
                <a:latin typeface="Arial MT"/>
                <a:cs typeface="Arial MT"/>
              </a:rPr>
              <a:t>CAT</a:t>
            </a:r>
            <a:r>
              <a:rPr sz="7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750" spc="-50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128249" y="3360313"/>
            <a:ext cx="511175" cy="55880"/>
            <a:chOff x="9128249" y="3360313"/>
            <a:chExt cx="511175" cy="55880"/>
          </a:xfrm>
        </p:grpSpPr>
        <p:sp>
          <p:nvSpPr>
            <p:cNvPr id="10" name="object 10"/>
            <p:cNvSpPr/>
            <p:nvPr/>
          </p:nvSpPr>
          <p:spPr>
            <a:xfrm>
              <a:off x="9128249" y="3360313"/>
              <a:ext cx="254635" cy="55880"/>
            </a:xfrm>
            <a:custGeom>
              <a:avLst/>
              <a:gdLst/>
              <a:ahLst/>
              <a:cxnLst/>
              <a:rect l="l" t="t" r="r" b="b"/>
              <a:pathLst>
                <a:path w="254634" h="55879">
                  <a:moveTo>
                    <a:pt x="256540" y="55880"/>
                  </a:moveTo>
                  <a:lnTo>
                    <a:pt x="0" y="55880"/>
                  </a:lnTo>
                  <a:lnTo>
                    <a:pt x="0" y="0"/>
                  </a:lnTo>
                  <a:lnTo>
                    <a:pt x="256540" y="0"/>
                  </a:lnTo>
                  <a:lnTo>
                    <a:pt x="256540" y="55880"/>
                  </a:lnTo>
                  <a:close/>
                </a:path>
              </a:pathLst>
            </a:custGeom>
            <a:solidFill>
              <a:srgbClr val="263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87569" y="3360313"/>
              <a:ext cx="252095" cy="55880"/>
            </a:xfrm>
            <a:custGeom>
              <a:avLst/>
              <a:gdLst/>
              <a:ahLst/>
              <a:cxnLst/>
              <a:rect l="l" t="t" r="r" b="b"/>
              <a:pathLst>
                <a:path w="252095" h="55879">
                  <a:moveTo>
                    <a:pt x="254000" y="55880"/>
                  </a:moveTo>
                  <a:lnTo>
                    <a:pt x="0" y="55880"/>
                  </a:lnTo>
                  <a:lnTo>
                    <a:pt x="0" y="0"/>
                  </a:lnTo>
                  <a:lnTo>
                    <a:pt x="254000" y="0"/>
                  </a:lnTo>
                  <a:lnTo>
                    <a:pt x="254000" y="55880"/>
                  </a:lnTo>
                  <a:close/>
                </a:path>
              </a:pathLst>
            </a:custGeom>
            <a:solidFill>
              <a:srgbClr val="1C2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15092" y="3324954"/>
            <a:ext cx="534035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5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50" spc="-35" dirty="0">
                <a:solidFill>
                  <a:srgbClr val="FFFFFF"/>
                </a:solidFill>
                <a:latin typeface="Arial MT"/>
                <a:cs typeface="Arial MT"/>
              </a:rPr>
              <a:t>CONF</a:t>
            </a:r>
            <a:r>
              <a:rPr sz="600" spc="-35" dirty="0">
                <a:solidFill>
                  <a:srgbClr val="FFFFFF"/>
                </a:solidFill>
                <a:latin typeface="Arial MT"/>
                <a:cs typeface="Arial MT"/>
              </a:rPr>
              <a:t>IDENCE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5802" y="4648356"/>
            <a:ext cx="8809355" cy="1468755"/>
          </a:xfrm>
          <a:prstGeom prst="rect">
            <a:avLst/>
          </a:prstGeom>
          <a:solidFill>
            <a:srgbClr val="70DBE8"/>
          </a:solidFill>
        </p:spPr>
        <p:txBody>
          <a:bodyPr vert="horz" wrap="square" lIns="0" tIns="151765" rIns="0" bIns="0" rtlCol="0">
            <a:spAutoFit/>
          </a:bodyPr>
          <a:lstStyle/>
          <a:p>
            <a:pPr marL="3810">
              <a:lnSpc>
                <a:spcPts val="1490"/>
              </a:lnSpc>
              <a:spcBef>
                <a:spcPts val="1195"/>
              </a:spcBef>
            </a:pPr>
            <a:r>
              <a:rPr sz="1300" spc="-35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3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diagnostic</a:t>
            </a:r>
            <a:r>
              <a:rPr sz="1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MT"/>
                <a:cs typeface="Arial MT"/>
              </a:rPr>
              <a:t>pipeline</a:t>
            </a:r>
            <a:r>
              <a:rPr sz="13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3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engineered</a:t>
            </a:r>
            <a:r>
              <a:rPr sz="1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3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MT"/>
                <a:cs typeface="Arial MT"/>
              </a:rPr>
              <a:t>absolute</a:t>
            </a:r>
            <a:r>
              <a:rPr sz="1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consistency</a:t>
            </a:r>
            <a:r>
              <a:rPr sz="13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MT"/>
                <a:cs typeface="Arial MT"/>
              </a:rPr>
              <a:t>clinical</a:t>
            </a:r>
            <a:r>
              <a:rPr sz="13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robustness.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3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initiates</a:t>
            </a:r>
            <a:r>
              <a:rPr sz="1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3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raw</a:t>
            </a:r>
            <a:r>
              <a:rPr sz="1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FFFFFF"/>
                </a:solidFill>
                <a:latin typeface="Arial MT"/>
                <a:cs typeface="Arial MT"/>
              </a:rPr>
              <a:t>MRI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 input,</a:t>
            </a:r>
            <a:r>
              <a:rPr sz="1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which immediately</a:t>
            </a:r>
            <a:r>
              <a:rPr sz="13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undergoes</a:t>
            </a:r>
            <a:r>
              <a:rPr sz="13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rigorous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 preprocessing:</a:t>
            </a:r>
            <a:r>
              <a:rPr sz="13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resizing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standardized</a:t>
            </a:r>
            <a:r>
              <a:rPr sz="13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224x224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resolution,</a:t>
            </a: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 pixel-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normalization,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strategic</a:t>
            </a:r>
            <a:r>
              <a:rPr sz="13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augmentation</a:t>
            </a:r>
            <a:r>
              <a:rPr sz="13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ensure</a:t>
            </a:r>
            <a:r>
              <a:rPr sz="13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orientation</a:t>
            </a:r>
            <a:r>
              <a:rPr sz="1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invariance.</a:t>
            </a:r>
            <a:r>
              <a:rPr sz="13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core</a:t>
            </a:r>
            <a:r>
              <a:rPr sz="1300" spc="-40" dirty="0">
                <a:solidFill>
                  <a:srgbClr val="FFFFFF"/>
                </a:solidFill>
                <a:latin typeface="Arial MT"/>
                <a:cs typeface="Arial MT"/>
              </a:rPr>
              <a:t> ResNet18</a:t>
            </a:r>
            <a:r>
              <a:rPr sz="13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engine processes</a:t>
            </a:r>
            <a:r>
              <a:rPr sz="13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these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frames</a:t>
            </a:r>
            <a:r>
              <a:rPr sz="1300" spc="500" dirty="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classify</a:t>
            </a:r>
            <a:r>
              <a:rPr sz="13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them</a:t>
            </a:r>
            <a:r>
              <a:rPr sz="1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13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1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3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four</a:t>
            </a:r>
            <a:r>
              <a:rPr sz="13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clinical</a:t>
            </a:r>
            <a:r>
              <a:rPr sz="1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categories.</a:t>
            </a:r>
            <a:r>
              <a:rPr sz="13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final</a:t>
            </a:r>
            <a:r>
              <a:rPr sz="1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result</a:t>
            </a:r>
            <a:r>
              <a:rPr sz="13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is served</a:t>
            </a:r>
            <a:r>
              <a:rPr sz="13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via</a:t>
            </a:r>
            <a:r>
              <a:rPr sz="13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Gradio</a:t>
            </a:r>
            <a:r>
              <a:rPr sz="1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interface,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displaying</a:t>
            </a:r>
            <a:r>
              <a:rPr sz="130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both</a:t>
            </a:r>
            <a:r>
              <a:rPr sz="13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3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confidence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score.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ensure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model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remains</a:t>
            </a:r>
            <a:r>
              <a:rPr sz="13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unbiased</a:t>
            </a:r>
            <a:r>
              <a:rPr sz="1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 generalizes</a:t>
            </a:r>
            <a:r>
              <a:rPr sz="13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well</a:t>
            </a:r>
            <a:r>
              <a:rPr sz="13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unseen</a:t>
            </a:r>
            <a:r>
              <a:rPr sz="1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patients,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implemented</a:t>
            </a:r>
            <a:r>
              <a:rPr sz="13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strict</a:t>
            </a:r>
            <a:r>
              <a:rPr sz="13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80/10/10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split</a:t>
            </a:r>
            <a:r>
              <a:rPr sz="13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training,</a:t>
            </a:r>
            <a:r>
              <a:rPr sz="1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validation,</a:t>
            </a:r>
            <a:r>
              <a:rPr sz="130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final</a:t>
            </a:r>
            <a:r>
              <a:rPr sz="1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testing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datasets.</a:t>
            </a:r>
            <a:endParaRPr sz="1300" dirty="0">
              <a:latin typeface="Arial MT"/>
              <a:cs typeface="Arial MT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b="17855"/>
          <a:stretch/>
        </p:blipFill>
        <p:spPr bwMode="auto">
          <a:xfrm>
            <a:off x="9856177" y="1"/>
            <a:ext cx="808891" cy="85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10" y="59881"/>
            <a:ext cx="3657600" cy="7330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115" y="501650"/>
            <a:ext cx="1524000" cy="1524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953" y="501650"/>
            <a:ext cx="1524000" cy="152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31318" y="132318"/>
            <a:ext cx="151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MRI</a:t>
            </a:r>
            <a:r>
              <a:rPr lang="en-US" dirty="0" smtClean="0"/>
              <a:t> </a:t>
            </a:r>
            <a:r>
              <a:rPr lang="en-US" b="1" dirty="0" smtClean="0"/>
              <a:t>Images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2577" y="2034644"/>
            <a:ext cx="2546985" cy="25596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5240" marR="187325" indent="-1905">
              <a:lnSpc>
                <a:spcPts val="1800"/>
              </a:lnSpc>
              <a:spcBef>
                <a:spcPts val="295"/>
              </a:spcBef>
            </a:pPr>
            <a:r>
              <a:rPr sz="1600" spc="-114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evolution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of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this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spc="-70" dirty="0">
                <a:latin typeface="Arial MT"/>
                <a:cs typeface="Arial MT"/>
              </a:rPr>
              <a:t>system </a:t>
            </a:r>
            <a:r>
              <a:rPr sz="1600" spc="-55" dirty="0">
                <a:latin typeface="Arial MT"/>
                <a:cs typeface="Arial MT"/>
              </a:rPr>
              <a:t>focuses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deepening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its </a:t>
            </a:r>
            <a:r>
              <a:rPr sz="1550" spc="-20" dirty="0">
                <a:latin typeface="Arial MT"/>
                <a:cs typeface="Arial MT"/>
              </a:rPr>
              <a:t>diagnostic </a:t>
            </a:r>
            <a:r>
              <a:rPr sz="1550" spc="-30" dirty="0">
                <a:latin typeface="Arial MT"/>
                <a:cs typeface="Arial MT"/>
              </a:rPr>
              <a:t>intelligence</a:t>
            </a:r>
            <a:r>
              <a:rPr sz="1550" spc="5" dirty="0"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0A0A0A"/>
                </a:solidFill>
                <a:latin typeface="Arial MT"/>
                <a:cs typeface="Arial MT"/>
              </a:rPr>
              <a:t>and </a:t>
            </a:r>
            <a:r>
              <a:rPr sz="1600" spc="-35" dirty="0">
                <a:latin typeface="Arial MT"/>
                <a:cs typeface="Arial MT"/>
              </a:rPr>
              <a:t>clinical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reach.</a:t>
            </a:r>
            <a:endParaRPr sz="1600">
              <a:latin typeface="Arial MT"/>
              <a:cs typeface="Arial MT"/>
            </a:endParaRPr>
          </a:p>
          <a:p>
            <a:pPr marL="18415">
              <a:lnSpc>
                <a:spcPts val="1700"/>
              </a:lnSpc>
            </a:pPr>
            <a:r>
              <a:rPr sz="1600" spc="-215" dirty="0">
                <a:latin typeface="Arial MT"/>
                <a:cs typeface="Arial MT"/>
              </a:rPr>
              <a:t>We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are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currently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exploring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endParaRPr sz="1600">
              <a:latin typeface="Arial MT"/>
              <a:cs typeface="Arial MT"/>
            </a:endParaRPr>
          </a:p>
          <a:p>
            <a:pPr marL="14604" marR="175895" indent="-2540">
              <a:lnSpc>
                <a:spcPct val="94800"/>
              </a:lnSpc>
              <a:spcBef>
                <a:spcPts val="40"/>
              </a:spcBef>
            </a:pPr>
            <a:r>
              <a:rPr sz="1600" spc="-30" dirty="0">
                <a:latin typeface="Arial MT"/>
                <a:cs typeface="Arial MT"/>
              </a:rPr>
              <a:t>integration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of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multi-</a:t>
            </a:r>
            <a:r>
              <a:rPr sz="1600" spc="-10" dirty="0">
                <a:latin typeface="Arial MT"/>
                <a:cs typeface="Arial MT"/>
              </a:rPr>
              <a:t>hospital </a:t>
            </a:r>
            <a:r>
              <a:rPr sz="1650" spc="-60" dirty="0">
                <a:latin typeface="Arial MT"/>
                <a:cs typeface="Arial MT"/>
              </a:rPr>
              <a:t>longitudinal</a:t>
            </a:r>
            <a:r>
              <a:rPr sz="1650" spc="40" dirty="0">
                <a:latin typeface="Arial MT"/>
                <a:cs typeface="Arial MT"/>
              </a:rPr>
              <a:t> </a:t>
            </a:r>
            <a:r>
              <a:rPr sz="1650" spc="-80" dirty="0">
                <a:latin typeface="Arial MT"/>
                <a:cs typeface="Arial MT"/>
              </a:rPr>
              <a:t>datasets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0C0C0C"/>
                </a:solidFill>
                <a:latin typeface="Arial MT"/>
                <a:cs typeface="Arial MT"/>
              </a:rPr>
              <a:t>to </a:t>
            </a:r>
            <a:r>
              <a:rPr sz="1600" spc="-70" dirty="0">
                <a:solidFill>
                  <a:srgbClr val="0C0C0C"/>
                </a:solidFill>
                <a:latin typeface="Arial MT"/>
                <a:cs typeface="Arial MT"/>
              </a:rPr>
              <a:t>improve</a:t>
            </a:r>
            <a:r>
              <a:rPr sz="1600" spc="1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model </a:t>
            </a:r>
            <a:r>
              <a:rPr sz="1550" spc="-35" dirty="0">
                <a:solidFill>
                  <a:srgbClr val="0C0C0C"/>
                </a:solidFill>
                <a:latin typeface="Arial MT"/>
                <a:cs typeface="Arial MT"/>
              </a:rPr>
              <a:t>generalization</a:t>
            </a:r>
            <a:r>
              <a:rPr sz="1550" spc="1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0C0C0C"/>
                </a:solidFill>
                <a:latin typeface="Arial MT"/>
                <a:cs typeface="Arial MT"/>
              </a:rPr>
              <a:t>across </a:t>
            </a:r>
            <a:r>
              <a:rPr sz="1550" dirty="0">
                <a:latin typeface="Arial MT"/>
                <a:cs typeface="Arial MT"/>
              </a:rPr>
              <a:t>different </a:t>
            </a:r>
            <a:r>
              <a:rPr sz="1550" spc="-125" dirty="0">
                <a:latin typeface="Arial MT"/>
                <a:cs typeface="Arial MT"/>
              </a:rPr>
              <a:t>MRI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spc="-35" dirty="0">
                <a:latin typeface="Arial MT"/>
                <a:cs typeface="Arial MT"/>
              </a:rPr>
              <a:t>hardware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0C0C0C"/>
                </a:solidFill>
                <a:latin typeface="Arial MT"/>
                <a:cs typeface="Arial MT"/>
              </a:rPr>
              <a:t>and </a:t>
            </a:r>
            <a:r>
              <a:rPr sz="1550" spc="-10" dirty="0">
                <a:latin typeface="Arial MT"/>
                <a:cs typeface="Arial MT"/>
              </a:rPr>
              <a:t>protocols.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2431" y="4763806"/>
            <a:ext cx="2442210" cy="143319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2540">
              <a:lnSpc>
                <a:spcPct val="88800"/>
              </a:lnSpc>
              <a:spcBef>
                <a:spcPts val="360"/>
              </a:spcBef>
            </a:pPr>
            <a:r>
              <a:rPr sz="1700" spc="-40" dirty="0">
                <a:solidFill>
                  <a:srgbClr val="131313"/>
                </a:solidFill>
                <a:latin typeface="Calibri"/>
                <a:cs typeface="Calibri"/>
              </a:rPr>
              <a:t>A</a:t>
            </a:r>
            <a:r>
              <a:rPr sz="1700" spc="-7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00" spc="-35" dirty="0">
                <a:solidFill>
                  <a:srgbClr val="111111"/>
                </a:solidFill>
                <a:latin typeface="Calibri"/>
                <a:cs typeface="Calibri"/>
              </a:rPr>
              <a:t>key</a:t>
            </a:r>
            <a:r>
              <a:rPr sz="1700" spc="-4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700" spc="-60" dirty="0">
                <a:latin typeface="Calibri"/>
                <a:cs typeface="Calibri"/>
              </a:rPr>
              <a:t>roadmap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spc="-70" dirty="0">
                <a:latin typeface="Calibri"/>
                <a:cs typeface="Calibri"/>
              </a:rPr>
              <a:t>item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31313"/>
                </a:solidFill>
                <a:latin typeface="Calibri"/>
                <a:cs typeface="Calibri"/>
              </a:rPr>
              <a:t>is</a:t>
            </a:r>
            <a:r>
              <a:rPr sz="1700" spc="-6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the </a:t>
            </a:r>
            <a:r>
              <a:rPr sz="1700" spc="-40" dirty="0">
                <a:latin typeface="Calibri"/>
                <a:cs typeface="Calibri"/>
              </a:rPr>
              <a:t>transition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65" dirty="0">
                <a:latin typeface="Calibri"/>
                <a:cs typeface="Calibri"/>
              </a:rPr>
              <a:t>from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classification </a:t>
            </a:r>
            <a:r>
              <a:rPr sz="1650" spc="-60" dirty="0">
                <a:latin typeface="Calibri"/>
                <a:cs typeface="Calibri"/>
              </a:rPr>
              <a:t>to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segmentation</a:t>
            </a:r>
            <a:r>
              <a:rPr sz="1650" spc="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using</a:t>
            </a:r>
            <a:r>
              <a:rPr sz="1650" spc="30" dirty="0"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E0E0E"/>
                </a:solidFill>
                <a:latin typeface="Calibri"/>
                <a:cs typeface="Calibri"/>
              </a:rPr>
              <a:t>UNet </a:t>
            </a:r>
            <a:r>
              <a:rPr sz="1700" spc="-40" dirty="0">
                <a:latin typeface="Calibri"/>
                <a:cs typeface="Calibri"/>
              </a:rPr>
              <a:t>architectures,</a:t>
            </a:r>
            <a:r>
              <a:rPr sz="1700" spc="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enabling </a:t>
            </a:r>
            <a:r>
              <a:rPr sz="1700" spc="-20" dirty="0">
                <a:latin typeface="Calibri"/>
                <a:cs typeface="Calibri"/>
              </a:rPr>
              <a:t>precise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80" dirty="0">
                <a:latin typeface="Calibri"/>
                <a:cs typeface="Calibri"/>
              </a:rPr>
              <a:t>tumor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volume localization.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0099" y="2022055"/>
            <a:ext cx="2146300" cy="18897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159385" algn="r">
              <a:lnSpc>
                <a:spcPct val="87900"/>
              </a:lnSpc>
              <a:spcBef>
                <a:spcPts val="380"/>
              </a:spcBef>
            </a:pPr>
            <a:r>
              <a:rPr sz="1700" spc="-65" dirty="0">
                <a:latin typeface="Calibri"/>
                <a:cs typeface="Calibri"/>
              </a:rPr>
              <a:t>Furthermore,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spc="-125" dirty="0">
                <a:latin typeface="Calibri"/>
                <a:cs typeface="Calibri"/>
              </a:rPr>
              <a:t>we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60" dirty="0">
                <a:latin typeface="Calibri"/>
                <a:cs typeface="Calibri"/>
              </a:rPr>
              <a:t>aim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to </a:t>
            </a:r>
            <a:r>
              <a:rPr sz="1700" spc="-75" dirty="0">
                <a:latin typeface="Calibri"/>
                <a:cs typeface="Calibri"/>
              </a:rPr>
              <a:t>implement</a:t>
            </a:r>
            <a:r>
              <a:rPr sz="1700" spc="30" dirty="0">
                <a:latin typeface="Calibri"/>
                <a:cs typeface="Calibri"/>
              </a:rPr>
              <a:t> </a:t>
            </a:r>
            <a:r>
              <a:rPr sz="1700" spc="-30" dirty="0">
                <a:latin typeface="Calibri"/>
                <a:cs typeface="Calibri"/>
              </a:rPr>
              <a:t>Explainable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AI </a:t>
            </a:r>
            <a:r>
              <a:rPr sz="1700" dirty="0">
                <a:latin typeface="Calibri"/>
                <a:cs typeface="Calibri"/>
              </a:rPr>
              <a:t>(XAI)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55" dirty="0">
                <a:latin typeface="Calibri"/>
                <a:cs typeface="Calibri"/>
              </a:rPr>
              <a:t>frameworks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that</a:t>
            </a:r>
            <a:endParaRPr sz="1700">
              <a:latin typeface="Calibri"/>
              <a:cs typeface="Calibri"/>
            </a:endParaRPr>
          </a:p>
          <a:p>
            <a:pPr marL="186055" marR="12065" indent="668020" algn="r">
              <a:lnSpc>
                <a:spcPts val="1800"/>
              </a:lnSpc>
              <a:spcBef>
                <a:spcPts val="25"/>
              </a:spcBef>
            </a:pPr>
            <a:r>
              <a:rPr sz="1700" spc="-55" dirty="0">
                <a:latin typeface="Calibri"/>
                <a:cs typeface="Calibri"/>
              </a:rPr>
              <a:t>generate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visual </a:t>
            </a:r>
            <a:r>
              <a:rPr sz="1650" spc="-10" dirty="0">
                <a:latin typeface="Calibri"/>
                <a:cs typeface="Calibri"/>
              </a:rPr>
              <a:t>heatmaps,</a:t>
            </a:r>
            <a:r>
              <a:rPr sz="1650" spc="-7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showing </a:t>
            </a:r>
            <a:r>
              <a:rPr sz="1750" spc="-50" dirty="0">
                <a:latin typeface="Calibri"/>
                <a:cs typeface="Calibri"/>
              </a:rPr>
              <a:t>exactly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spc="-85" dirty="0">
                <a:latin typeface="Calibri"/>
                <a:cs typeface="Calibri"/>
              </a:rPr>
              <a:t>which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neural </a:t>
            </a:r>
            <a:r>
              <a:rPr sz="1750" spc="-70" dirty="0">
                <a:solidFill>
                  <a:srgbClr val="0A0A0A"/>
                </a:solidFill>
                <a:latin typeface="Calibri"/>
                <a:cs typeface="Calibri"/>
              </a:rPr>
              <a:t>features</a:t>
            </a:r>
            <a:r>
              <a:rPr sz="1750" spc="-1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1750" spc="-70" dirty="0">
                <a:latin typeface="Calibri"/>
                <a:cs typeface="Calibri"/>
              </a:rPr>
              <a:t>influenced</a:t>
            </a:r>
            <a:r>
              <a:rPr sz="1750" spc="50" dirty="0">
                <a:latin typeface="Calibri"/>
                <a:cs typeface="Calibri"/>
              </a:rPr>
              <a:t> </a:t>
            </a:r>
            <a:r>
              <a:rPr sz="1750" spc="-7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endParaRPr sz="1750">
              <a:latin typeface="Calibri"/>
              <a:cs typeface="Calibri"/>
            </a:endParaRPr>
          </a:p>
          <a:p>
            <a:pPr marR="17780" algn="r">
              <a:lnSpc>
                <a:spcPts val="1785"/>
              </a:lnSpc>
            </a:pPr>
            <a:r>
              <a:rPr sz="1750" spc="-10" dirty="0">
                <a:latin typeface="Calibri"/>
                <a:cs typeface="Calibri"/>
              </a:rPr>
              <a:t>diagnosis.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381" y="4091587"/>
            <a:ext cx="2010410" cy="210248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00025" marR="5080" indent="-19050" algn="r">
              <a:lnSpc>
                <a:spcPct val="93800"/>
              </a:lnSpc>
              <a:spcBef>
                <a:spcPts val="254"/>
              </a:spcBef>
            </a:pPr>
            <a:r>
              <a:rPr sz="1600" spc="-55" dirty="0">
                <a:solidFill>
                  <a:srgbClr val="0F0F0F"/>
                </a:solidFill>
                <a:latin typeface="Arial MT"/>
                <a:cs typeface="Arial MT"/>
              </a:rPr>
              <a:t>Ultimately,</a:t>
            </a:r>
            <a:r>
              <a:rPr sz="1600" spc="1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130" dirty="0">
                <a:solidFill>
                  <a:srgbClr val="0C0C0C"/>
                </a:solidFill>
                <a:latin typeface="Arial MT"/>
                <a:cs typeface="Arial MT"/>
              </a:rPr>
              <a:t>we</a:t>
            </a:r>
            <a:r>
              <a:rPr sz="1600" spc="-3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-95" dirty="0">
                <a:latin typeface="Arial MT"/>
                <a:cs typeface="Arial MT"/>
              </a:rPr>
              <a:t>seek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Arial MT"/>
                <a:cs typeface="Arial MT"/>
              </a:rPr>
              <a:t>to </a:t>
            </a:r>
            <a:r>
              <a:rPr sz="1600" spc="-85" dirty="0">
                <a:solidFill>
                  <a:srgbClr val="0C0C0C"/>
                </a:solidFill>
                <a:latin typeface="Arial MT"/>
                <a:cs typeface="Arial MT"/>
              </a:rPr>
              <a:t>develop</a:t>
            </a:r>
            <a:r>
              <a:rPr sz="1600" spc="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lightweight, </a:t>
            </a:r>
            <a:r>
              <a:rPr sz="1600" spc="-60" dirty="0">
                <a:solidFill>
                  <a:srgbClr val="0F0F0F"/>
                </a:solidFill>
                <a:latin typeface="Arial MT"/>
                <a:cs typeface="Arial MT"/>
              </a:rPr>
              <a:t>quantized</a:t>
            </a:r>
            <a:r>
              <a:rPr sz="1600" spc="-5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versions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F0F0F"/>
                </a:solidFill>
                <a:latin typeface="Arial MT"/>
                <a:cs typeface="Arial MT"/>
              </a:rPr>
              <a:t>of </a:t>
            </a:r>
            <a:r>
              <a:rPr sz="1600" spc="-65" dirty="0">
                <a:solidFill>
                  <a:srgbClr val="0C0C0C"/>
                </a:solidFill>
                <a:latin typeface="Arial MT"/>
                <a:cs typeface="Arial MT"/>
              </a:rPr>
              <a:t>these</a:t>
            </a:r>
            <a:r>
              <a:rPr sz="1600" spc="-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-65" dirty="0">
                <a:latin typeface="Arial MT"/>
                <a:cs typeface="Arial MT"/>
              </a:rPr>
              <a:t>models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for </a:t>
            </a:r>
            <a:r>
              <a:rPr sz="1600" spc="-65" dirty="0">
                <a:latin typeface="Arial MT"/>
                <a:cs typeface="Arial MT"/>
              </a:rPr>
              <a:t>mobile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 MT"/>
                <a:cs typeface="Arial MT"/>
              </a:rPr>
              <a:t>deployment </a:t>
            </a:r>
            <a:r>
              <a:rPr sz="1600" spc="-100" dirty="0">
                <a:latin typeface="Arial MT"/>
                <a:cs typeface="Arial MT"/>
              </a:rPr>
              <a:t>and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direct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35" dirty="0">
                <a:latin typeface="Arial MT"/>
                <a:cs typeface="Arial MT"/>
              </a:rPr>
              <a:t>integration </a:t>
            </a:r>
            <a:r>
              <a:rPr sz="1600" spc="-35" dirty="0">
                <a:solidFill>
                  <a:srgbClr val="0E0E0E"/>
                </a:solidFill>
                <a:latin typeface="Arial MT"/>
                <a:cs typeface="Arial MT"/>
              </a:rPr>
              <a:t>into</a:t>
            </a:r>
            <a:r>
              <a:rPr sz="1600" spc="-8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latin typeface="Arial MT"/>
                <a:cs typeface="Arial MT"/>
              </a:rPr>
              <a:t>hospital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C0C0C"/>
                </a:solidFill>
                <a:latin typeface="Arial MT"/>
                <a:cs typeface="Arial MT"/>
              </a:rPr>
              <a:t>PACS</a:t>
            </a:r>
            <a:endParaRPr sz="1600">
              <a:latin typeface="Arial MT"/>
              <a:cs typeface="Arial MT"/>
            </a:endParaRPr>
          </a:p>
          <a:p>
            <a:pPr marL="130175" marR="20320" indent="-118110" algn="r">
              <a:lnSpc>
                <a:spcPts val="1800"/>
              </a:lnSpc>
              <a:spcBef>
                <a:spcPts val="20"/>
              </a:spcBef>
            </a:pPr>
            <a:r>
              <a:rPr sz="1600" spc="-60" dirty="0">
                <a:solidFill>
                  <a:srgbClr val="0C0C0C"/>
                </a:solidFill>
                <a:latin typeface="Arial MT"/>
                <a:cs typeface="Arial MT"/>
              </a:rPr>
              <a:t>systems</a:t>
            </a:r>
            <a:r>
              <a:rPr sz="1600" spc="-5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sz="1600" spc="-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185" dirty="0">
                <a:latin typeface="Arial MT"/>
                <a:cs typeface="Arial MT"/>
              </a:rPr>
              <a:t>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70" dirty="0">
                <a:solidFill>
                  <a:srgbClr val="0C0C0C"/>
                </a:solidFill>
                <a:latin typeface="Arial MT"/>
                <a:cs typeface="Arial MT"/>
              </a:rPr>
              <a:t>pervasive </a:t>
            </a:r>
            <a:r>
              <a:rPr sz="1600" spc="-45" dirty="0">
                <a:latin typeface="Arial MT"/>
                <a:cs typeface="Arial MT"/>
              </a:rPr>
              <a:t>diagnostic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85" dirty="0">
                <a:solidFill>
                  <a:srgbClr val="0C0C0C"/>
                </a:solidFill>
                <a:latin typeface="Arial MT"/>
                <a:cs typeface="Arial MT"/>
              </a:rPr>
              <a:t>ecosystem.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b="17855"/>
          <a:stretch/>
        </p:blipFill>
        <p:spPr bwMode="auto">
          <a:xfrm>
            <a:off x="9856177" y="1"/>
            <a:ext cx="808891" cy="85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10" y="59881"/>
            <a:ext cx="3657600" cy="7330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309</Words>
  <Application>Microsoft Office PowerPoint</Application>
  <PresentationFormat>Custom</PresentationFormat>
  <Paragraphs>46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tram</vt:lpstr>
      <vt:lpstr>PowerPoint Presentation</vt:lpstr>
      <vt:lpstr>Project Overview &amp; Architecture</vt:lpstr>
      <vt:lpstr>Clinical Impact</vt:lpstr>
      <vt:lpstr>System Flow &amp; Data Strategy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tram</dc:title>
  <cp:lastModifiedBy>dell</cp:lastModifiedBy>
  <cp:revision>5</cp:revision>
  <dcterms:created xsi:type="dcterms:W3CDTF">2026-02-24T07:23:06Z</dcterms:created>
  <dcterms:modified xsi:type="dcterms:W3CDTF">2026-03-04T08:40:17Z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2026-02-24T00:00:00Z</vt:filetime>
  </property>
  <property fmtid="{D5CDD505-2E9C-101B-9397-08002B2CF9AE}" pid="3" name="LastSaved">
    <vt:filetime>2026-02-24T00:00:00Z</vt:filetime>
  </property>
  <property fmtid="{D5CDD505-2E9C-101B-9397-08002B2CF9AE}" pid="4" name="Producer">
    <vt:lpwstr>Pdftools SDK</vt:lpwstr>
  </property>
</Properties>
</file>